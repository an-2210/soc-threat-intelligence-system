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88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224720" y="539640"/>
            <a:ext cx="6694560" cy="1090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USTOM_3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390;p29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224720" y="539640"/>
            <a:ext cx="6694560" cy="1090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7" name="Google Shape;393;p29"/>
          <p:cNvSpPr/>
          <p:nvPr/>
        </p:nvSpPr>
        <p:spPr>
          <a:xfrm>
            <a:off x="2099160" y="3611880"/>
            <a:ext cx="49453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200" b="1" u="none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CREDITS:</a:t>
            </a:r>
            <a:r>
              <a:rPr lang="en" sz="1200" b="0" u="none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This presentation template was created by </a:t>
            </a:r>
            <a:r>
              <a:rPr lang="en" sz="1200" b="1" u="sng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  <a:hlinkClick r:id="rId3"/>
              </a:rPr>
              <a:t>Slidesgo</a:t>
            </a:r>
            <a:r>
              <a:rPr lang="en" sz="1200" b="0" u="none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, and includes icons by </a:t>
            </a:r>
            <a:r>
              <a:rPr lang="en" sz="1200" b="1" u="sng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  <a:hlinkClick r:id="rId4"/>
              </a:rPr>
              <a:t>Flaticon</a:t>
            </a:r>
            <a:r>
              <a:rPr lang="en" sz="1200" b="0" u="none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, and infographics &amp; images by </a:t>
            </a:r>
            <a:r>
              <a:rPr lang="en" sz="1200" b="1" u="sng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  <a:hlinkClick r:id="rId5"/>
              </a:rPr>
              <a:t>Freepik</a:t>
            </a:r>
            <a:r>
              <a:rPr lang="en" sz="1200" b="0" u="sng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8" name="Google Shape;394;p29"/>
          <p:cNvGrpSpPr/>
          <p:nvPr/>
        </p:nvGrpSpPr>
        <p:grpSpPr>
          <a:xfrm>
            <a:off x="-81720" y="-1889640"/>
            <a:ext cx="8787600" cy="6775920"/>
            <a:chOff x="-81720" y="-1889640"/>
            <a:chExt cx="8787600" cy="6775920"/>
          </a:xfrm>
        </p:grpSpPr>
        <p:sp>
          <p:nvSpPr>
            <p:cNvPr id="19" name="Google Shape;395;p29"/>
            <p:cNvSpPr/>
            <p:nvPr/>
          </p:nvSpPr>
          <p:spPr>
            <a:xfrm>
              <a:off x="-81720" y="-188964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" name="Google Shape;396;p29"/>
            <p:cNvSpPr/>
            <p:nvPr/>
          </p:nvSpPr>
          <p:spPr>
            <a:xfrm>
              <a:off x="441360" y="35805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" name="Google Shape;397;p29"/>
            <p:cNvSpPr/>
            <p:nvPr/>
          </p:nvSpPr>
          <p:spPr>
            <a:xfrm>
              <a:off x="8155440" y="38196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390;p29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224720" y="539640"/>
            <a:ext cx="6694560" cy="1090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7" name="Google Shape;393;p29"/>
          <p:cNvSpPr/>
          <p:nvPr/>
        </p:nvSpPr>
        <p:spPr>
          <a:xfrm>
            <a:off x="2099160" y="3611880"/>
            <a:ext cx="49453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200" b="1" u="none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CREDITS:</a:t>
            </a:r>
            <a:r>
              <a:rPr lang="en" sz="1200" b="0" u="none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This presentation template was created by </a:t>
            </a:r>
            <a:r>
              <a:rPr lang="en" sz="1200" b="1" u="sng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  <a:hlinkClick r:id="rId3"/>
              </a:rPr>
              <a:t>Slidesgo</a:t>
            </a:r>
            <a:r>
              <a:rPr lang="en" sz="1200" b="0" u="none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, and includes icons by </a:t>
            </a:r>
            <a:r>
              <a:rPr lang="en" sz="1200" b="1" u="sng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  <a:hlinkClick r:id="rId4"/>
              </a:rPr>
              <a:t>Flaticon</a:t>
            </a:r>
            <a:r>
              <a:rPr lang="en" sz="1200" b="0" u="none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, and infographics &amp; images by </a:t>
            </a:r>
            <a:r>
              <a:rPr lang="en" sz="1200" b="1" u="sng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  <a:hlinkClick r:id="rId5"/>
              </a:rPr>
              <a:t>Freepik</a:t>
            </a:r>
            <a:r>
              <a:rPr lang="en" sz="1200" b="0" u="sng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5" name="Google Shape;394;p29"/>
          <p:cNvGrpSpPr/>
          <p:nvPr/>
        </p:nvGrpSpPr>
        <p:grpSpPr>
          <a:xfrm>
            <a:off x="-81720" y="-1889640"/>
            <a:ext cx="8787600" cy="6775920"/>
            <a:chOff x="-81720" y="-1889640"/>
            <a:chExt cx="8787600" cy="6775920"/>
          </a:xfrm>
        </p:grpSpPr>
        <p:sp>
          <p:nvSpPr>
            <p:cNvPr id="19" name="Google Shape;395;p29"/>
            <p:cNvSpPr/>
            <p:nvPr/>
          </p:nvSpPr>
          <p:spPr>
            <a:xfrm>
              <a:off x="-81720" y="-188964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" name="Google Shape;396;p29"/>
            <p:cNvSpPr/>
            <p:nvPr/>
          </p:nvSpPr>
          <p:spPr>
            <a:xfrm>
              <a:off x="441360" y="35805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" name="Google Shape;397;p29"/>
            <p:cNvSpPr/>
            <p:nvPr/>
          </p:nvSpPr>
          <p:spPr>
            <a:xfrm>
              <a:off x="8155440" y="38196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36;p4"/>
          <p:cNvGrpSpPr/>
          <p:nvPr/>
        </p:nvGrpSpPr>
        <p:grpSpPr>
          <a:xfrm>
            <a:off x="0" y="-101520"/>
            <a:ext cx="9143640" cy="5285160"/>
            <a:chOff x="0" y="-101520"/>
            <a:chExt cx="9143640" cy="5285160"/>
          </a:xfrm>
        </p:grpSpPr>
        <p:grpSp>
          <p:nvGrpSpPr>
            <p:cNvPr id="28" name="Google Shape;37;p4"/>
            <p:cNvGrpSpPr/>
            <p:nvPr/>
          </p:nvGrpSpPr>
          <p:grpSpPr>
            <a:xfrm>
              <a:off x="5400000" y="0"/>
              <a:ext cx="3743640" cy="5183640"/>
              <a:chOff x="5400000" y="0"/>
              <a:chExt cx="3743640" cy="5183640"/>
            </a:xfrm>
          </p:grpSpPr>
          <p:pic>
            <p:nvPicPr>
              <p:cNvPr id="29" name="Google Shape;38;p4"/>
              <p:cNvPicPr/>
              <p:nvPr/>
            </p:nvPicPr>
            <p:blipFill>
              <a:blip r:embed="rId2"/>
              <a:srcRect t="28154" r="83008" b="11928"/>
              <a:stretch/>
            </p:blipFill>
            <p:spPr>
              <a:xfrm>
                <a:off x="7021440" y="0"/>
                <a:ext cx="2122200" cy="39186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30" name="Google Shape;39;p4"/>
              <p:cNvPicPr/>
              <p:nvPr/>
            </p:nvPicPr>
            <p:blipFill>
              <a:blip r:embed="rId3"/>
              <a:srcRect l="13257" t="4640" r="52035" b="54899"/>
              <a:stretch/>
            </p:blipFill>
            <p:spPr>
              <a:xfrm>
                <a:off x="5400000" y="2899800"/>
                <a:ext cx="3743640" cy="22838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31" name="Google Shape;40;p4"/>
            <p:cNvGrpSpPr/>
            <p:nvPr/>
          </p:nvGrpSpPr>
          <p:grpSpPr>
            <a:xfrm>
              <a:off x="0" y="-101520"/>
              <a:ext cx="4437720" cy="4762080"/>
              <a:chOff x="0" y="-101520"/>
              <a:chExt cx="4437720" cy="4762080"/>
            </a:xfrm>
          </p:grpSpPr>
          <p:pic>
            <p:nvPicPr>
              <p:cNvPr id="32" name="Google Shape;41;p4"/>
              <p:cNvPicPr/>
              <p:nvPr/>
            </p:nvPicPr>
            <p:blipFill>
              <a:blip r:embed="rId3"/>
              <a:srcRect l="31146" t="56446" r="25575" b="4983"/>
              <a:stretch/>
            </p:blipFill>
            <p:spPr>
              <a:xfrm>
                <a:off x="0" y="0"/>
                <a:ext cx="4437720" cy="20696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33" name="Google Shape;42;p4"/>
              <p:cNvPicPr/>
              <p:nvPr/>
            </p:nvPicPr>
            <p:blipFill>
              <a:blip r:embed="rId2"/>
              <a:srcRect l="4614" t="2365" r="79209" b="23718"/>
              <a:stretch/>
            </p:blipFill>
            <p:spPr>
              <a:xfrm rot="10800000">
                <a:off x="360" y="-101520"/>
                <a:ext cx="1989720" cy="476208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720000" y="1136880"/>
            <a:ext cx="7703640" cy="353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36" name="Google Shape;45;p4"/>
          <p:cNvGrpSpPr/>
          <p:nvPr/>
        </p:nvGrpSpPr>
        <p:grpSpPr>
          <a:xfrm>
            <a:off x="-1946520" y="-570240"/>
            <a:ext cx="10978560" cy="5713200"/>
            <a:chOff x="-1946520" y="-570240"/>
            <a:chExt cx="10978560" cy="5713200"/>
          </a:xfrm>
        </p:grpSpPr>
        <p:sp>
          <p:nvSpPr>
            <p:cNvPr id="37" name="Google Shape;46;p4"/>
            <p:cNvSpPr/>
            <p:nvPr/>
          </p:nvSpPr>
          <p:spPr>
            <a:xfrm rot="5400000">
              <a:off x="-1946520" y="271368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" name="Google Shape;47;p4"/>
            <p:cNvSpPr/>
            <p:nvPr/>
          </p:nvSpPr>
          <p:spPr>
            <a:xfrm>
              <a:off x="8286120" y="-57024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" name="Google Shape;48;p4"/>
            <p:cNvSpPr/>
            <p:nvPr/>
          </p:nvSpPr>
          <p:spPr>
            <a:xfrm>
              <a:off x="8481600" y="43214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9;p2"/>
          <p:cNvGrpSpPr/>
          <p:nvPr/>
        </p:nvGrpSpPr>
        <p:grpSpPr>
          <a:xfrm>
            <a:off x="4157280" y="0"/>
            <a:ext cx="4986360" cy="3918600"/>
            <a:chOff x="4157280" y="0"/>
            <a:chExt cx="4986360" cy="3918600"/>
          </a:xfrm>
        </p:grpSpPr>
        <p:pic>
          <p:nvPicPr>
            <p:cNvPr id="3" name="Google Shape;10;p2"/>
            <p:cNvPicPr/>
            <p:nvPr/>
          </p:nvPicPr>
          <p:blipFill>
            <a:blip r:embed="rId3"/>
            <a:srcRect l="1389" t="26408" r="75083" b="13674"/>
            <a:stretch/>
          </p:blipFill>
          <p:spPr>
            <a:xfrm>
              <a:off x="6204600" y="0"/>
              <a:ext cx="2939040" cy="3918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" name="Google Shape;11;p2"/>
            <p:cNvPicPr/>
            <p:nvPr/>
          </p:nvPicPr>
          <p:blipFill>
            <a:blip r:embed="rId4"/>
            <a:srcRect l="21159" t="55236" r="32617" b="4309"/>
            <a:stretch/>
          </p:blipFill>
          <p:spPr>
            <a:xfrm>
              <a:off x="4157280" y="0"/>
              <a:ext cx="4986360" cy="2283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5" name="Google Shape;12;p2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6" name="Google Shape;13;p2"/>
            <p:cNvPicPr/>
            <p:nvPr/>
          </p:nvPicPr>
          <p:blipFill>
            <a:blip r:embed="rId4"/>
            <a:srcRect l="35370" t="5164" r="21351" b="51348"/>
            <a:stretch/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" name="Google Shape;14;p2"/>
            <p:cNvPicPr/>
            <p:nvPr/>
          </p:nvPicPr>
          <p:blipFill>
            <a:blip r:embed="rId3"/>
            <a:srcRect t="21588" r="76117" b="13746"/>
            <a:stretch/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28720" y="1017720"/>
            <a:ext cx="7486200" cy="2018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9" name="Google Shape;17;p2"/>
          <p:cNvGrpSpPr/>
          <p:nvPr/>
        </p:nvGrpSpPr>
        <p:grpSpPr>
          <a:xfrm>
            <a:off x="340200" y="-478800"/>
            <a:ext cx="7725600" cy="5975280"/>
            <a:chOff x="340200" y="-478800"/>
            <a:chExt cx="7725600" cy="5975280"/>
          </a:xfrm>
        </p:grpSpPr>
        <p:sp>
          <p:nvSpPr>
            <p:cNvPr id="10" name="Google Shape;18;p2"/>
            <p:cNvSpPr/>
            <p:nvPr/>
          </p:nvSpPr>
          <p:spPr>
            <a:xfrm>
              <a:off x="340200" y="41907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" name="Google Shape;19;p2"/>
            <p:cNvSpPr/>
            <p:nvPr/>
          </p:nvSpPr>
          <p:spPr>
            <a:xfrm>
              <a:off x="7044480" y="-47880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37;p35"/>
          <p:cNvSpPr/>
          <p:nvPr/>
        </p:nvSpPr>
        <p:spPr>
          <a:xfrm>
            <a:off x="3799440" y="3918960"/>
            <a:ext cx="1545120" cy="350280"/>
          </a:xfrm>
          <a:custGeom>
            <a:avLst/>
            <a:gdLst>
              <a:gd name="textAreaLeft" fmla="*/ 0 w 1545120"/>
              <a:gd name="textAreaRight" fmla="*/ 1545480 w 1545120"/>
              <a:gd name="textAreaTop" fmla="*/ 0 h 350280"/>
              <a:gd name="textAreaBottom" fmla="*/ 350640 h 350280"/>
            </a:gdLst>
            <a:ahLst/>
            <a:cxnLst/>
            <a:rect l="textAreaLeft" t="textAreaTop" r="textAreaRight" b="textAreaBottom"/>
            <a:pathLst>
              <a:path w="61812" h="14026">
                <a:moveTo>
                  <a:pt x="7040" y="0"/>
                </a:moveTo>
                <a:cubicBezTo>
                  <a:pt x="6987" y="532"/>
                  <a:pt x="6934" y="1036"/>
                  <a:pt x="6907" y="1541"/>
                </a:cubicBezTo>
                <a:cubicBezTo>
                  <a:pt x="6695" y="4410"/>
                  <a:pt x="4410" y="6721"/>
                  <a:pt x="1515" y="6907"/>
                </a:cubicBezTo>
                <a:cubicBezTo>
                  <a:pt x="1010" y="6933"/>
                  <a:pt x="506" y="6986"/>
                  <a:pt x="1" y="7013"/>
                </a:cubicBezTo>
                <a:cubicBezTo>
                  <a:pt x="506" y="7066"/>
                  <a:pt x="1010" y="7119"/>
                  <a:pt x="1515" y="7146"/>
                </a:cubicBezTo>
                <a:cubicBezTo>
                  <a:pt x="4410" y="7332"/>
                  <a:pt x="6695" y="9642"/>
                  <a:pt x="6907" y="12511"/>
                </a:cubicBezTo>
                <a:cubicBezTo>
                  <a:pt x="6934" y="13016"/>
                  <a:pt x="6960" y="13521"/>
                  <a:pt x="7013" y="14025"/>
                </a:cubicBezTo>
                <a:cubicBezTo>
                  <a:pt x="7066" y="13521"/>
                  <a:pt x="7120" y="13016"/>
                  <a:pt x="7146" y="12511"/>
                </a:cubicBezTo>
                <a:cubicBezTo>
                  <a:pt x="7359" y="9642"/>
                  <a:pt x="9643" y="7332"/>
                  <a:pt x="12538" y="7146"/>
                </a:cubicBezTo>
                <a:cubicBezTo>
                  <a:pt x="13043" y="7119"/>
                  <a:pt x="13548" y="7066"/>
                  <a:pt x="14052" y="7013"/>
                </a:cubicBezTo>
                <a:cubicBezTo>
                  <a:pt x="13548" y="6986"/>
                  <a:pt x="13043" y="6933"/>
                  <a:pt x="12538" y="6907"/>
                </a:cubicBezTo>
                <a:cubicBezTo>
                  <a:pt x="9643" y="6694"/>
                  <a:pt x="7359" y="4410"/>
                  <a:pt x="7173" y="1541"/>
                </a:cubicBezTo>
                <a:cubicBezTo>
                  <a:pt x="7120" y="1036"/>
                  <a:pt x="7066" y="532"/>
                  <a:pt x="7040" y="0"/>
                </a:cubicBezTo>
                <a:close/>
                <a:moveTo>
                  <a:pt x="30893" y="0"/>
                </a:moveTo>
                <a:cubicBezTo>
                  <a:pt x="30840" y="532"/>
                  <a:pt x="30813" y="1036"/>
                  <a:pt x="30787" y="1541"/>
                </a:cubicBezTo>
                <a:cubicBezTo>
                  <a:pt x="30574" y="4410"/>
                  <a:pt x="28263" y="6694"/>
                  <a:pt x="25394" y="6880"/>
                </a:cubicBezTo>
                <a:cubicBezTo>
                  <a:pt x="24890" y="6933"/>
                  <a:pt x="24385" y="6986"/>
                  <a:pt x="23880" y="7013"/>
                </a:cubicBezTo>
                <a:cubicBezTo>
                  <a:pt x="24385" y="7066"/>
                  <a:pt x="24890" y="7119"/>
                  <a:pt x="25394" y="7146"/>
                </a:cubicBezTo>
                <a:cubicBezTo>
                  <a:pt x="28290" y="7332"/>
                  <a:pt x="30574" y="9642"/>
                  <a:pt x="30787" y="12511"/>
                </a:cubicBezTo>
                <a:cubicBezTo>
                  <a:pt x="30813" y="13016"/>
                  <a:pt x="30866" y="13521"/>
                  <a:pt x="30893" y="14025"/>
                </a:cubicBezTo>
                <a:cubicBezTo>
                  <a:pt x="30946" y="13521"/>
                  <a:pt x="30999" y="13016"/>
                  <a:pt x="31026" y="12511"/>
                </a:cubicBezTo>
                <a:cubicBezTo>
                  <a:pt x="31238" y="9642"/>
                  <a:pt x="33522" y="7332"/>
                  <a:pt x="36418" y="7146"/>
                </a:cubicBezTo>
                <a:cubicBezTo>
                  <a:pt x="36922" y="7119"/>
                  <a:pt x="37427" y="7066"/>
                  <a:pt x="37932" y="7013"/>
                </a:cubicBezTo>
                <a:cubicBezTo>
                  <a:pt x="37427" y="6960"/>
                  <a:pt x="36922" y="6933"/>
                  <a:pt x="36418" y="6907"/>
                </a:cubicBezTo>
                <a:cubicBezTo>
                  <a:pt x="33522" y="6721"/>
                  <a:pt x="31212" y="4410"/>
                  <a:pt x="31026" y="1541"/>
                </a:cubicBezTo>
                <a:cubicBezTo>
                  <a:pt x="30999" y="1036"/>
                  <a:pt x="30946" y="532"/>
                  <a:pt x="30893" y="0"/>
                </a:cubicBezTo>
                <a:close/>
                <a:moveTo>
                  <a:pt x="54772" y="0"/>
                </a:moveTo>
                <a:cubicBezTo>
                  <a:pt x="54719" y="532"/>
                  <a:pt x="54692" y="1036"/>
                  <a:pt x="54639" y="1541"/>
                </a:cubicBezTo>
                <a:cubicBezTo>
                  <a:pt x="54453" y="4410"/>
                  <a:pt x="52143" y="6694"/>
                  <a:pt x="49274" y="6880"/>
                </a:cubicBezTo>
                <a:cubicBezTo>
                  <a:pt x="48769" y="6933"/>
                  <a:pt x="48264" y="6986"/>
                  <a:pt x="47733" y="7013"/>
                </a:cubicBezTo>
                <a:cubicBezTo>
                  <a:pt x="48264" y="7066"/>
                  <a:pt x="48769" y="7119"/>
                  <a:pt x="49274" y="7146"/>
                </a:cubicBezTo>
                <a:cubicBezTo>
                  <a:pt x="52143" y="7332"/>
                  <a:pt x="54453" y="9642"/>
                  <a:pt x="54639" y="12511"/>
                </a:cubicBezTo>
                <a:cubicBezTo>
                  <a:pt x="54666" y="13016"/>
                  <a:pt x="54719" y="13521"/>
                  <a:pt x="54772" y="14025"/>
                </a:cubicBezTo>
                <a:cubicBezTo>
                  <a:pt x="54825" y="13521"/>
                  <a:pt x="54852" y="13016"/>
                  <a:pt x="54905" y="12511"/>
                </a:cubicBezTo>
                <a:cubicBezTo>
                  <a:pt x="55091" y="9616"/>
                  <a:pt x="57402" y="7332"/>
                  <a:pt x="60297" y="7146"/>
                </a:cubicBezTo>
                <a:cubicBezTo>
                  <a:pt x="60802" y="7119"/>
                  <a:pt x="61306" y="7066"/>
                  <a:pt x="61811" y="7013"/>
                </a:cubicBezTo>
                <a:cubicBezTo>
                  <a:pt x="61280" y="6986"/>
                  <a:pt x="60775" y="6933"/>
                  <a:pt x="60297" y="6907"/>
                </a:cubicBezTo>
                <a:cubicBezTo>
                  <a:pt x="57402" y="6721"/>
                  <a:pt x="55117" y="4410"/>
                  <a:pt x="54905" y="1541"/>
                </a:cubicBezTo>
                <a:cubicBezTo>
                  <a:pt x="54878" y="1036"/>
                  <a:pt x="54825" y="532"/>
                  <a:pt x="54772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1" name="Google Shape;438;p35"/>
          <p:cNvSpPr/>
          <p:nvPr/>
        </p:nvSpPr>
        <p:spPr>
          <a:xfrm>
            <a:off x="806040" y="672840"/>
            <a:ext cx="550440" cy="564480"/>
          </a:xfrm>
          <a:custGeom>
            <a:avLst/>
            <a:gdLst>
              <a:gd name="textAreaLeft" fmla="*/ 0 w 550440"/>
              <a:gd name="textAreaRight" fmla="*/ 550800 w 550440"/>
              <a:gd name="textAreaTop" fmla="*/ 0 h 564480"/>
              <a:gd name="textAreaBottom" fmla="*/ 564840 h 564480"/>
            </a:gdLst>
            <a:ahLst/>
            <a:cxnLst/>
            <a:rect l="textAreaLeft" t="textAreaTop" r="textAreaRight" b="textAreaBottom"/>
            <a:pathLst>
              <a:path w="43135" h="44235">
                <a:moveTo>
                  <a:pt x="21057" y="1"/>
                </a:moveTo>
                <a:lnTo>
                  <a:pt x="21057" y="394"/>
                </a:lnTo>
                <a:cubicBezTo>
                  <a:pt x="20979" y="12179"/>
                  <a:pt x="11786" y="21921"/>
                  <a:pt x="1" y="22471"/>
                </a:cubicBezTo>
                <a:cubicBezTo>
                  <a:pt x="11629" y="23021"/>
                  <a:pt x="20821" y="32606"/>
                  <a:pt x="21057" y="44234"/>
                </a:cubicBezTo>
                <a:lnTo>
                  <a:pt x="21057" y="43841"/>
                </a:lnTo>
                <a:cubicBezTo>
                  <a:pt x="20979" y="31663"/>
                  <a:pt x="30957" y="21764"/>
                  <a:pt x="43135" y="21764"/>
                </a:cubicBezTo>
                <a:cubicBezTo>
                  <a:pt x="31114" y="21685"/>
                  <a:pt x="21214" y="12022"/>
                  <a:pt x="21057" y="1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42" name="Google Shape;439;p35"/>
          <p:cNvGrpSpPr/>
          <p:nvPr/>
        </p:nvGrpSpPr>
        <p:grpSpPr>
          <a:xfrm>
            <a:off x="7335000" y="3639600"/>
            <a:ext cx="1159560" cy="793080"/>
            <a:chOff x="7335000" y="3639600"/>
            <a:chExt cx="1159560" cy="793080"/>
          </a:xfrm>
        </p:grpSpPr>
        <p:cxnSp>
          <p:nvCxnSpPr>
            <p:cNvPr id="43" name="Google Shape;440;p35"/>
            <p:cNvCxnSpPr/>
            <p:nvPr/>
          </p:nvCxnSpPr>
          <p:spPr>
            <a:xfrm>
              <a:off x="7335000" y="3755880"/>
              <a:ext cx="1159920" cy="67716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44" name="Google Shape;441;p35"/>
            <p:cNvCxnSpPr/>
            <p:nvPr/>
          </p:nvCxnSpPr>
          <p:spPr>
            <a:xfrm>
              <a:off x="7344720" y="376704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45" name="Google Shape;442;p35"/>
            <p:cNvCxnSpPr/>
            <p:nvPr/>
          </p:nvCxnSpPr>
          <p:spPr>
            <a:xfrm flipV="1">
              <a:off x="7350480" y="3639600"/>
              <a:ext cx="41724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  <p:sp>
        <p:nvSpPr>
          <p:cNvPr id="46" name="Rectangle 45"/>
          <p:cNvSpPr/>
          <p:nvPr/>
        </p:nvSpPr>
        <p:spPr>
          <a:xfrm>
            <a:off x="828720" y="1019160"/>
            <a:ext cx="7486200" cy="132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0" b="1" u="none" strike="noStrike">
                <a:solidFill>
                  <a:srgbClr val="FFFFFF"/>
                </a:solidFill>
                <a:effectLst/>
                <a:uFillTx/>
                <a:latin typeface="Unbounded SemiBold"/>
              </a:rPr>
              <a:t>AI Threat Intelligence</a:t>
            </a:r>
            <a:endParaRPr lang="en-US" sz="5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2305080" y="3191040"/>
            <a:ext cx="4524120" cy="76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From automated detection to actionable cyber threat reports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/>
        </p:nvSpPr>
        <p:spPr>
          <a:xfrm>
            <a:off x="476280" y="380880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Unbounded"/>
              </a:rPr>
              <a:t>Introduction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76280" y="880350"/>
            <a:ext cx="8191080" cy="380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Cyberattacks are becoming more sophisticated, making traditional rule- and signature-based detection less effective against </a:t>
            </a:r>
            <a:r>
              <a:rPr lang="en-US" sz="1600" b="1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zero-day and evolving threats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.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AI/ML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can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analyse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large-scale security data, detect anomalies, and classify cyber threats.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However, </a:t>
            </a:r>
            <a:r>
              <a:rPr lang="en-US" sz="1600" b="1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threat detection alone is insufficient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; security teams need to understand the attack, identify indicators, and determine appropriate responses.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NLP and LLMs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can extract and generate Cyber Threat Intelligence (CTI) from security data and reports.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Proposed system: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Integrate </a:t>
            </a:r>
            <a:r>
              <a:rPr lang="en-US" sz="1600" b="1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AI-based threat detection with automated, actionable CTI generation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.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: Rounded Corners 49"/>
          <p:cNvSpPr/>
          <p:nvPr/>
        </p:nvSpPr>
        <p:spPr>
          <a:xfrm>
            <a:off x="4952880" y="343080"/>
            <a:ext cx="3714480" cy="2057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1" name="Rectangle: Rounded Corners 50"/>
          <p:cNvSpPr/>
          <p:nvPr/>
        </p:nvSpPr>
        <p:spPr>
          <a:xfrm>
            <a:off x="4952880" y="2610000"/>
            <a:ext cx="3714480" cy="2057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76280" y="380880"/>
            <a:ext cx="36190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Unbounded"/>
              </a:rPr>
              <a:t>Literature Scale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95160" y="2362320"/>
            <a:ext cx="3619080" cy="42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A snapshot of how AI permeates cybersecurity research and where gaps remain.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5219640" y="609480"/>
            <a:ext cx="318096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1A1A1A"/>
                </a:solidFill>
                <a:effectLst/>
                <a:uFillTx/>
                <a:latin typeface="Unbounded"/>
              </a:rPr>
              <a:t>2,395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5219640" y="1219320"/>
            <a:ext cx="3180960" cy="70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Actor"/>
              </a:rPr>
              <a:t>Studies identified in a systematic review; broad AI adoption across cybersecurity functions.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5219640" y="2876400"/>
            <a:ext cx="318096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1A1A1A"/>
                </a:solidFill>
                <a:effectLst/>
                <a:uFillTx/>
                <a:latin typeface="Unbounded"/>
              </a:rPr>
              <a:t>≤5%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5219640" y="3486240"/>
            <a:ext cx="3180960" cy="70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Actor"/>
              </a:rPr>
              <a:t>End-to-end CTI pipelines demonstrated; integrated, operational implementations are scarce.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: Rounded Corners 57"/>
          <p:cNvSpPr/>
          <p:nvPr/>
        </p:nvSpPr>
        <p:spPr>
          <a:xfrm>
            <a:off x="1724040" y="2104920"/>
            <a:ext cx="114120" cy="9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36720" rIns="90000" bIns="-36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9" name="Rectangle: Rounded Corners 58"/>
          <p:cNvSpPr/>
          <p:nvPr/>
        </p:nvSpPr>
        <p:spPr>
          <a:xfrm>
            <a:off x="3086280" y="2104920"/>
            <a:ext cx="114120" cy="9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36720" rIns="90000" bIns="-36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0" name="Rectangle: Rounded Corners 59"/>
          <p:cNvSpPr/>
          <p:nvPr/>
        </p:nvSpPr>
        <p:spPr>
          <a:xfrm>
            <a:off x="4448160" y="2104920"/>
            <a:ext cx="114120" cy="9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36720" rIns="90000" bIns="-36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1" name="Rectangle: Rounded Corners 60"/>
          <p:cNvSpPr/>
          <p:nvPr/>
        </p:nvSpPr>
        <p:spPr>
          <a:xfrm>
            <a:off x="5810400" y="2104920"/>
            <a:ext cx="114120" cy="9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36720" rIns="90000" bIns="-36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2" name="Rectangle: Rounded Corners 61"/>
          <p:cNvSpPr/>
          <p:nvPr/>
        </p:nvSpPr>
        <p:spPr>
          <a:xfrm>
            <a:off x="7172280" y="2104920"/>
            <a:ext cx="114120" cy="9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36720" rIns="90000" bIns="-36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3" name="Rectangle: Rounded Corners 62"/>
          <p:cNvSpPr/>
          <p:nvPr/>
        </p:nvSpPr>
        <p:spPr>
          <a:xfrm>
            <a:off x="476280" y="2000160"/>
            <a:ext cx="1247400" cy="209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4" name="Rectangle: Rounded Corners 63"/>
          <p:cNvSpPr/>
          <p:nvPr/>
        </p:nvSpPr>
        <p:spPr>
          <a:xfrm>
            <a:off x="1095480" y="2209680"/>
            <a:ext cx="9000" cy="323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5" name="Rectangle: Rounded Corners 64"/>
          <p:cNvSpPr/>
          <p:nvPr/>
        </p:nvSpPr>
        <p:spPr>
          <a:xfrm>
            <a:off x="1838160" y="2000160"/>
            <a:ext cx="1247400" cy="209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6" name="Rectangle: Rounded Corners 65"/>
          <p:cNvSpPr/>
          <p:nvPr/>
        </p:nvSpPr>
        <p:spPr>
          <a:xfrm>
            <a:off x="2457360" y="2209680"/>
            <a:ext cx="9000" cy="323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7" name="Rectangle: Rounded Corners 66"/>
          <p:cNvSpPr/>
          <p:nvPr/>
        </p:nvSpPr>
        <p:spPr>
          <a:xfrm>
            <a:off x="3200400" y="2000160"/>
            <a:ext cx="1247400" cy="209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8" name="Rectangle: Rounded Corners 67"/>
          <p:cNvSpPr/>
          <p:nvPr/>
        </p:nvSpPr>
        <p:spPr>
          <a:xfrm>
            <a:off x="3819600" y="2209680"/>
            <a:ext cx="9000" cy="323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9" name="Rectangle: Rounded Corners 68"/>
          <p:cNvSpPr/>
          <p:nvPr/>
        </p:nvSpPr>
        <p:spPr>
          <a:xfrm>
            <a:off x="4562640" y="2000160"/>
            <a:ext cx="1247400" cy="209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0" name="Rectangle: Rounded Corners 69"/>
          <p:cNvSpPr/>
          <p:nvPr/>
        </p:nvSpPr>
        <p:spPr>
          <a:xfrm>
            <a:off x="5181480" y="2209680"/>
            <a:ext cx="9000" cy="323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1" name="Rectangle: Rounded Corners 70"/>
          <p:cNvSpPr/>
          <p:nvPr/>
        </p:nvSpPr>
        <p:spPr>
          <a:xfrm>
            <a:off x="5924520" y="2000160"/>
            <a:ext cx="1247400" cy="209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2" name="Rectangle: Rounded Corners 71"/>
          <p:cNvSpPr/>
          <p:nvPr/>
        </p:nvSpPr>
        <p:spPr>
          <a:xfrm>
            <a:off x="6543720" y="2209680"/>
            <a:ext cx="9000" cy="323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3" name="Rectangle: Rounded Corners 72"/>
          <p:cNvSpPr/>
          <p:nvPr/>
        </p:nvSpPr>
        <p:spPr>
          <a:xfrm>
            <a:off x="7286760" y="2000160"/>
            <a:ext cx="1247400" cy="209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4" name="Rectangle: Rounded Corners 73"/>
          <p:cNvSpPr/>
          <p:nvPr/>
        </p:nvSpPr>
        <p:spPr>
          <a:xfrm>
            <a:off x="7905600" y="2209680"/>
            <a:ext cx="9000" cy="323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476280" y="380880"/>
            <a:ext cx="819108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Unbounded"/>
              </a:rPr>
              <a:t>End-to-End Pipeline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476280" y="1219320"/>
            <a:ext cx="1247400" cy="42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Unbounded"/>
              </a:rPr>
              <a:t>Ingest Telemetry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476280" y="2619360"/>
            <a:ext cx="1247400" cy="124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Ingest network, EDR, alerts, and incident reports to form a unified signal set.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1838160" y="1219320"/>
            <a:ext cx="1247400" cy="58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Unbounded"/>
              </a:rPr>
              <a:t>Preprocess &amp; Fuse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1838160" y="2619360"/>
            <a:ext cx="1247400" cy="124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Normalize formats, align timestamps, and fuse signals to reduce noise.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3200400" y="1219320"/>
            <a:ext cx="1247400" cy="42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Unbounded"/>
              </a:rPr>
              <a:t>Run Detectors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3200400" y="2619360"/>
            <a:ext cx="1247400" cy="1618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Execute anomaly and malware classifiers to surface high-signal candidate incidents.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4562640" y="1219320"/>
            <a:ext cx="1247400" cy="42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Unbounded"/>
              </a:rPr>
              <a:t>LLM Extraction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4562640" y="2619360"/>
            <a:ext cx="1247400" cy="1618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Trigger constrained LLM to extract CTI elements (actors, techniques, IOCs) from candidates.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5924520" y="1219320"/>
            <a:ext cx="1247400" cy="63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Unbounded"/>
              </a:rPr>
              <a:t>Post-Process &amp; Validate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5924520" y="2619360"/>
            <a:ext cx="1247400" cy="18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Map CTI to schema, canonicalize IOCs, and assign confidence scores for auditable lineage.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7286760" y="1219320"/>
            <a:ext cx="124740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Unbounded"/>
              </a:rPr>
              <a:t>Present &amp; Automate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7286760" y="2619360"/>
            <a:ext cx="1247400" cy="124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Deliver dashboards and automated playbooks to analysts for rapid response.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87"/>
          <p:cNvSpPr/>
          <p:nvPr/>
        </p:nvSpPr>
        <p:spPr>
          <a:xfrm>
            <a:off x="476280" y="380880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Unbounded"/>
              </a:rPr>
              <a:t>Paper 1 — AI for Cybersecurity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476280" y="1114560"/>
            <a:ext cx="8191080" cy="167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Kaur et al. (2023)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buClr>
                <a:srgbClr val="FFFFFF"/>
              </a:buClr>
              <a:buFont typeface="Calibri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Reviews the broad use of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AI/ML in cybersecurity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, including threat detection and response.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buClr>
                <a:srgbClr val="FFFFFF"/>
              </a:buClr>
              <a:buFont typeface="Calibri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Shows that AI can automate security tasks and improve threat detection.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buClr>
                <a:srgbClr val="FFFFFF"/>
              </a:buClr>
              <a:buFont typeface="Calibri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Highlights the need for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better data, infrastructure, and advanced AI techniques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476280" y="2801520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FFFFFF"/>
                </a:solidFill>
                <a:effectLst/>
                <a:uFillTx/>
                <a:latin typeface="Unbounded"/>
              </a:rPr>
              <a:t>Paper 2 — LLMs for Cyber Threat Detection</a:t>
            </a:r>
            <a:endParaRPr lang="en-US" sz="2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476280" y="3343320"/>
            <a:ext cx="8191080" cy="167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A Survey of Large Language Models for Cyber Threat Detection (2024)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buClr>
                <a:srgbClr val="FFFFFF"/>
              </a:buClr>
              <a:buFont typeface="Calibri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Explores the use of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LLMs for cyber-threat detection and security analysis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buClr>
                <a:srgbClr val="FFFFFF"/>
              </a:buClr>
              <a:buFont typeface="Calibri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Shows that LLMs can process complex cybersecurity information and assist analysts.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buClr>
                <a:srgbClr val="FFFFFF"/>
              </a:buClr>
              <a:buFont typeface="Calibri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Identifies challenges such as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hallucination, reliability, and security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91"/>
          <p:cNvSpPr/>
          <p:nvPr/>
        </p:nvSpPr>
        <p:spPr>
          <a:xfrm>
            <a:off x="619200" y="219150"/>
            <a:ext cx="790524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Unbounded"/>
              </a:rPr>
              <a:t>Paper 3 — NLP for Cyber Threat Intelligence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619200" y="623835"/>
            <a:ext cx="7905240" cy="182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100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1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Arazzi</a:t>
            </a:r>
            <a:r>
              <a:rPr lang="en-US" sz="1600" b="1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et al. (2025)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buClr>
                <a:srgbClr val="FFFFFF"/>
              </a:buClr>
              <a:buFont typeface="Calibri"/>
              <a:buChar char="•"/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Reviews </a:t>
            </a:r>
            <a:r>
              <a:rPr lang="en-US" sz="1600" b="1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NLP techniques for extracting and </a:t>
            </a:r>
            <a:r>
              <a:rPr lang="en-US" sz="1600" b="1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analysing</a:t>
            </a:r>
            <a:r>
              <a:rPr lang="en-US" sz="1600" b="1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Cyber Threat Intelligence (CTI)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.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buClr>
                <a:srgbClr val="FFFFFF"/>
              </a:buClr>
              <a:buFont typeface="Calibri"/>
              <a:buChar char="•"/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NLP can identify </a:t>
            </a:r>
            <a:r>
              <a:rPr lang="en-US" sz="1600" b="1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threat actors, attack techniques, vulnerabilities, and </a:t>
            </a:r>
            <a:r>
              <a:rPr lang="en-US" sz="1600" b="1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IoCs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from security data.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buClr>
                <a:srgbClr val="FFFFFF"/>
              </a:buClr>
              <a:buFont typeface="Calibri"/>
              <a:buChar char="•"/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Highlights the lack of a </a:t>
            </a:r>
            <a:r>
              <a:rPr lang="en-US" sz="1600" b="1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unified real-time detection-to-CTI pipeline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.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619200" y="2495520"/>
            <a:ext cx="790524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FFFFFF"/>
                </a:solidFill>
                <a:effectLst/>
                <a:uFillTx/>
                <a:latin typeface="Unbounded"/>
              </a:rPr>
              <a:t>Paper 4 — Generative AI for CTI</a:t>
            </a:r>
            <a:endParaRPr lang="en-US" sz="2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619200" y="2977563"/>
            <a:ext cx="7905240" cy="182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100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Balasubramanian et al. (2025)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buClr>
                <a:srgbClr val="FFFFFF"/>
              </a:buClr>
              <a:buFont typeface="Calibri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Examines how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Generative AI and LLMs can support CTI generation and analysis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buClr>
                <a:srgbClr val="FFFFFF"/>
              </a:buClr>
              <a:buFont typeface="Calibri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Covers diverse sources such as security reports, network traffic, malware, and threat platforms.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buClr>
                <a:srgbClr val="FFFFFF"/>
              </a:buClr>
              <a:buFont typeface="Calibri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Identifies challenges including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privacy, adversarial attacks, interpretability, and reliability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95"/>
          <p:cNvSpPr/>
          <p:nvPr/>
        </p:nvSpPr>
        <p:spPr>
          <a:xfrm>
            <a:off x="19080" y="399960"/>
            <a:ext cx="9115200" cy="73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Unbounded"/>
              </a:rPr>
              <a:t>Paper 5 — Generative AI in Cybersecurity Operations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371520" y="1257480"/>
            <a:ext cx="8276760" cy="152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Uddin et al. (2025)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buClr>
                <a:srgbClr val="FFFFFF"/>
              </a:buClr>
              <a:buFont typeface="Calibri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Reviews the role of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Generative AI in cybersecurity operations and threat intelligence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buClr>
                <a:srgbClr val="FFFFFF"/>
              </a:buClr>
              <a:buFont typeface="Calibri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Shows how GenAI can assist with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security analysis, threat intelligence, and operational tasks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buClr>
                <a:srgbClr val="FFFFFF"/>
              </a:buClr>
              <a:buFont typeface="Calibri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Supports moving beyond simple detection toward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AI-assisted security decision-making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371520" y="2781000"/>
            <a:ext cx="8181720" cy="73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FFFFFF"/>
                </a:solidFill>
                <a:effectLst/>
                <a:uFillTx/>
                <a:latin typeface="Unbounded"/>
              </a:rPr>
              <a:t>Paper 6 — AI-Based Cybersecurity Detection</a:t>
            </a:r>
            <a:endParaRPr lang="en-US" sz="2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438120" y="3191040"/>
            <a:ext cx="8276760" cy="182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Salem et al. (2024)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buClr>
                <a:srgbClr val="FFFFFF"/>
              </a:buClr>
              <a:buFont typeface="Calibri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Reviews AI techniques for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intrusion, malware, anomaly, phishing, and network-threat detection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buClr>
                <a:srgbClr val="FFFFFF"/>
              </a:buClr>
              <a:buFont typeface="Calibri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Demonstrates the effectiveness of AI for identifying sophisticated cyberattacks.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buClr>
                <a:srgbClr val="FFFFFF"/>
              </a:buClr>
              <a:buFont typeface="Calibri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Highlights challenges such as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false positives, dataset limitations, and evolving threats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619200" y="619200"/>
            <a:ext cx="7905240" cy="73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Unbounded"/>
              </a:rPr>
              <a:t>Paper 7 — Explainable AI for Intrusion Detection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619200" y="1905120"/>
            <a:ext cx="7905240" cy="182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Pereira et al. (2024)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buClr>
                <a:srgbClr val="FFFFFF"/>
              </a:buClr>
              <a:buFont typeface="Calibri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Applies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LIME and SHAP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 to explain the decisions of an AI-based intrusion detection system.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buClr>
                <a:srgbClr val="FFFFFF"/>
              </a:buClr>
              <a:buFont typeface="Calibri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Helps cybersecurity analysts understand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why a network activity was classified as malicious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buClr>
                <a:srgbClr val="FFFFFF"/>
              </a:buClr>
              <a:buFont typeface="Calibri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Shows how XAI can improve the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interpretability and trust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 of ML-based IDS.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01"/>
          <p:cNvSpPr/>
          <p:nvPr/>
        </p:nvSpPr>
        <p:spPr>
          <a:xfrm>
            <a:off x="476280" y="380880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Unbounded"/>
              </a:rPr>
              <a:t>AI Coverage NIST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476280" y="1428840"/>
            <a:ext cx="238104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6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Identify coverage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3048120" y="1428840"/>
            <a:ext cx="25714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AI-enabled CTI maps to asset discovery and risk profiling.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5810400" y="1428840"/>
            <a:ext cx="285732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lnSpcReduction="9999"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0" b="1" u="none" strike="noStrike">
                <a:solidFill>
                  <a:srgbClr val="FFFFFF"/>
                </a:solidFill>
                <a:effectLst/>
                <a:uFillTx/>
                <a:latin typeface="Unbounded"/>
              </a:rPr>
              <a:t>92%</a:t>
            </a:r>
            <a:endParaRPr lang="en-US" sz="6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6" name="Rectangle 105"/>
          <p:cNvSpPr/>
          <p:nvPr/>
        </p:nvSpPr>
        <p:spPr>
          <a:xfrm>
            <a:off x="476280" y="3048120"/>
            <a:ext cx="238104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6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Protect controls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3048120" y="3048120"/>
            <a:ext cx="25714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Threat intel-informed policies and enforcement rules.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5810400" y="3048120"/>
            <a:ext cx="285732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lnSpcReduction="9999"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0" b="1" u="none" strike="noStrike">
                <a:solidFill>
                  <a:srgbClr val="FFFFFF"/>
                </a:solidFill>
                <a:effectLst/>
                <a:uFillTx/>
                <a:latin typeface="Unbounded"/>
              </a:rPr>
              <a:t>85%</a:t>
            </a:r>
            <a:endParaRPr lang="en-US" sz="6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08"/>
          <p:cNvSpPr/>
          <p:nvPr/>
        </p:nvSpPr>
        <p:spPr>
          <a:xfrm>
            <a:off x="619200" y="466560"/>
            <a:ext cx="790524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Unbounded"/>
              </a:rPr>
              <a:t>Issues in Existing Systems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619200" y="1333440"/>
            <a:ext cx="7905240" cy="365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9999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1. Detection ≠ Intelligence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buClr>
                <a:srgbClr val="FFFFFF"/>
              </a:buClr>
              <a:buFont typeface="Calibri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Systems often identify </a:t>
            </a:r>
            <a:r>
              <a:rPr lang="en-US" sz="1600" b="0" i="1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whether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 an attack occurred, but provide limited context on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why, how, and what to do next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2. High False Positives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buClr>
                <a:srgbClr val="FFFFFF"/>
              </a:buClr>
              <a:buFont typeface="Calibri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Legitimate activities may be incorrectly classified as threats.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buClr>
                <a:srgbClr val="FFFFFF"/>
              </a:buClr>
              <a:buFont typeface="Calibri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Creates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alert fatigue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 and increases analyst workload.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3. Unknown / Evolving Attacks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buClr>
                <a:srgbClr val="FFFFFF"/>
              </a:buClr>
              <a:buFont typeface="Calibri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Signature-based systems struggle with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previously unseen attacks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buClr>
                <a:srgbClr val="FFFFFF"/>
              </a:buClr>
              <a:buFont typeface="Calibri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ML-based anomaly detection helps, but generalization remains challenging.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4. Large-Scale Security Data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buClr>
                <a:srgbClr val="FFFFFF"/>
              </a:buClr>
              <a:buFont typeface="Calibri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Huge volumes of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logs, alerts, threat feeds, and reports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 make manual analysis inefficient.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 110"/>
          <p:cNvSpPr/>
          <p:nvPr/>
        </p:nvSpPr>
        <p:spPr>
          <a:xfrm>
            <a:off x="2695680" y="542880"/>
            <a:ext cx="3762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rgbClr val="FFFFFF"/>
                </a:solidFill>
                <a:effectLst/>
                <a:uFillTx/>
                <a:latin typeface="Unbounded"/>
              </a:rPr>
              <a:t>Research Gap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457200" y="1419120"/>
            <a:ext cx="7905240" cy="243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Threat Detection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 ↓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Threat Analysis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 ↓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CTI Extraction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 ↓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Intelligence Generation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866880" y="4095720"/>
            <a:ext cx="7590960" cy="60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Existing approaches often address these tasks separately. Our proposed system aims to integrate them into a unified, explainable, and evidence-based pipeline.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13"/>
          <p:cNvSpPr/>
          <p:nvPr/>
        </p:nvSpPr>
        <p:spPr>
          <a:xfrm>
            <a:off x="619200" y="619200"/>
            <a:ext cx="790524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Unbounded"/>
              </a:rPr>
              <a:t>Core Problem Statement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438120" y="1486080"/>
            <a:ext cx="7905240" cy="289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Current cybersecurity solutions emphasize detection and classification but leave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post-detection analysis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 and the creation of </a:t>
            </a:r>
            <a:r>
              <a:rPr lang="en-US" sz="1600" b="0" i="1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Cyber Threat Intelligence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 largely manual. Security datasets are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heterogeneous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, high-volume, and often unstructured, impeding rapid, accurate analysis.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AI-driven tools additionally struggle with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false positives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, limited novel-threat discovery, and weak explainability, limiting trust and operational usefulness. An integrated, reliable AI system is required to extract indicators, correlate events, and produce concise, evidence-based intelligence.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115"/>
          <p:cNvSpPr/>
          <p:nvPr/>
        </p:nvSpPr>
        <p:spPr>
          <a:xfrm>
            <a:off x="619200" y="619200"/>
            <a:ext cx="790524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Unbounded"/>
              </a:rPr>
              <a:t>AI Threat Platform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7" name="Rectangle 116"/>
          <p:cNvSpPr/>
          <p:nvPr/>
        </p:nvSpPr>
        <p:spPr>
          <a:xfrm>
            <a:off x="466560" y="1476360"/>
            <a:ext cx="8505360" cy="293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9999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Hybrid AI framework detecting known and novel cyber threats.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Trained and cross-evaluated on CIC-IDS2017 and UNSW-NB15.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Preprocessing and feature engineering with Python, Pandas, NumPy, Scikit-learn.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Supervised (XGBoost, Random Forest) for known attacks; anomaly (Autoencoder, Isolation Forest) for unknowns.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Decision-level fusion plus SHAP explainability; threats mapped to 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MITRE ATT&amp;CK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RAG + LLM with FAISS/ChromaDB generates evidence-based reports; FastAPI/React SOC dashboard for alerts.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117"/>
          <p:cNvSpPr/>
          <p:nvPr/>
        </p:nvSpPr>
        <p:spPr>
          <a:xfrm>
            <a:off x="619200" y="619200"/>
            <a:ext cx="790524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Unbounded"/>
              </a:rPr>
              <a:t>Key Contributions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9" name="Rectangle 118"/>
          <p:cNvSpPr/>
          <p:nvPr/>
        </p:nvSpPr>
        <p:spPr>
          <a:xfrm>
            <a:off x="619200" y="980640"/>
            <a:ext cx="7905240" cy="365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9999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Hybrid detection combining supervised classification and anomaly detection for known and unseen attacks.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Decision-level fusion merges model confidence with anomaly scores to enhance reliability.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SHAP-based explainability provides feature-level rationale for predictions.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Automated mapping to </a:t>
            </a:r>
            <a:r>
              <a:rPr lang="en-US" sz="1600" b="1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MITRE ATT&amp;CK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links behaviors to tactics and techniques.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RAG retrieves verified sources before LLM synthesis to reduce hallucination.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Generates evidence-backed CTI reports and validated via cross-dataset evaluation.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119"/>
          <p:cNvSpPr/>
          <p:nvPr/>
        </p:nvSpPr>
        <p:spPr>
          <a:xfrm>
            <a:off x="476280" y="380880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Unbounded"/>
              </a:rPr>
              <a:t>References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1" name="Rectangle 120"/>
          <p:cNvSpPr/>
          <p:nvPr/>
        </p:nvSpPr>
        <p:spPr>
          <a:xfrm>
            <a:off x="571680" y="1409760"/>
            <a:ext cx="857232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1) Kaur, R., Gabrijelčič, D., &amp; Klobučar, T. (2023). </a:t>
            </a:r>
            <a:r>
              <a:rPr lang="en-US" sz="1600" b="0" i="1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Artificial intelligence for cybersecurity: Literature review and future research directions.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Information Fusion, 97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, 101804.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2) A survey of large language models for cyber threat detection.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 (2024).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Computers &amp; Security, 145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, 104016.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3)Arazzi, M., Arikkat, D. R., Nicolazzo, S., Nocera, A., et al. (2025). </a:t>
            </a:r>
            <a:r>
              <a:rPr lang="en-US" sz="1600" b="0" i="1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NLP-based techniques for Cyber Threat Intelligence.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Computer Science Review, 58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, 100765.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4) Balasubramanian, P., Liyana, S., Sankaran, H., et al. (2025). </a:t>
            </a:r>
            <a:r>
              <a:rPr lang="en-US" sz="1600" b="0" i="1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Generative AI for cyber threat intelligence: applications, challenges, and analysis of real-world case studies.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Artificial Intelligence Review, 58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, 336.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angle 121"/>
          <p:cNvSpPr/>
          <p:nvPr/>
        </p:nvSpPr>
        <p:spPr>
          <a:xfrm>
            <a:off x="619200" y="619200"/>
            <a:ext cx="790524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Unbounded"/>
              </a:rPr>
              <a:t>References contd.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619200" y="1905120"/>
            <a:ext cx="7905240" cy="21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9999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5) Uddin, M., Irshad, M. S., Kandhro, I. A., et al. (2025). </a:t>
            </a:r>
            <a:r>
              <a:rPr lang="en-US" sz="1600" b="0" i="1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Generative AI revolution in cybersecurity: a comprehensive review of threat intelligence and operations.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Artificial Intelligence Review, 58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, 236.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6) Salem, A. H., Azzam, S. M., Emam, O. E., et al. (2024). </a:t>
            </a:r>
            <a:r>
              <a:rPr lang="en-US" sz="1600" b="0" i="1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Advancing cybersecurity: a comprehensive review of AI-driven detection techniques.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Journal of Big Data, 11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, 105.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7) Gaspar, D., Silva, P., &amp; Silva, C. (2024). </a:t>
            </a:r>
            <a:r>
              <a:rPr lang="en-US" sz="1600" b="0" i="1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Explainable AI for Intrusion Detection Systems: LIME and SHAP Applicability on Multi-Layer Perceptron.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IEEE Access, 12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, 30164–30175. 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2D602-5370-C876-6C22-C8EB71311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4309" y="1704655"/>
            <a:ext cx="7932222" cy="1734190"/>
          </a:xfrm>
        </p:spPr>
        <p:txBody>
          <a:bodyPr/>
          <a:lstStyle/>
          <a:p>
            <a:r>
              <a:rPr lang="en-US" sz="8800" dirty="0">
                <a:solidFill>
                  <a:schemeClr val="bg1"/>
                </a:solidFill>
              </a:rPr>
              <a:t>Thank You!</a:t>
            </a:r>
            <a:endParaRPr lang="en-IN" sz="8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3472936"/>
      </p:ext>
    </p:extLst>
  </p:cSld>
  <p:clrMapOvr>
    <a:masterClrMapping/>
  </p:clrMapOvr>
</p:sld>
</file>

<file path=ppt/theme/theme1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1344</Words>
  <Application>Microsoft Office PowerPoint</Application>
  <PresentationFormat>On-screen Show (16:9)</PresentationFormat>
  <Paragraphs>129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Actor</vt:lpstr>
      <vt:lpstr>Arial</vt:lpstr>
      <vt:lpstr>Calibri</vt:lpstr>
      <vt:lpstr>OpenSymbol</vt:lpstr>
      <vt:lpstr>Symbol</vt:lpstr>
      <vt:lpstr>Unbounded</vt:lpstr>
      <vt:lpstr>Unbounded SemiBold</vt:lpstr>
      <vt:lpstr>Wingdings</vt:lpstr>
      <vt:lpstr>My Presentation Template</vt:lpstr>
      <vt:lpstr>My Presentation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Avneet Kaur</dc:creator>
  <cp:lastModifiedBy>Khushi</cp:lastModifiedBy>
  <cp:revision>1</cp:revision>
  <dcterms:modified xsi:type="dcterms:W3CDTF">2026-10-28T08:14:12Z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2026-09-04T08:03:10Z</dcterms:created>
  <dc:creator>Slidesgo AI</dc:creator>
  <dc:description/>
  <dc:language>en-US</dc:language>
  <cp:lastModifiedBy>Unknown Creator</cp:lastModifiedBy>
  <dcterms:modified xsi:type="dcterms:W3CDTF">2026-09-04T08:03:10Z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17</vt:r8>
  </property>
  <property fmtid="{D5CDD505-2E9C-101B-9397-08002B2CF9AE}" pid="3" name="SlidesgoGeneratedBy">
    <vt:lpwstr>slidesgo-ai</vt:lpwstr>
  </property>
  <property fmtid="{D5CDD505-2E9C-101B-9397-08002B2CF9AE}" pid="4" name="SlidesgoPresentationUuid">
    <vt:lpwstr>a2a9d3f8-2fd0-4159-a122-542e77fcdea6</vt:lpwstr>
  </property>
</Properties>
</file>